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A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840"/>
              </a:spcAft>
              <a:defRPr sz="2800" b="0">
                <a:solidFill>
                  <a:srgbClr val="F3E4BC"/>
                </a:solidFill>
                <a:latin typeface="Arial Unicode MS"/>
              </a:defRPr>
            </a:pPr>
            <a:r>
              <a:t>तन्मे मनः शिवसङ्कल्पमस्तु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132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Sri Shivasankalpa Vṛnda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660"/>
              </a:spcAft>
              <a:defRPr sz="2200" b="0">
                <a:solidFill>
                  <a:srgbClr val="D4D2E8"/>
                </a:solidFill>
                <a:latin typeface="Calibri"/>
              </a:defRPr>
            </a:pPr>
            <a:r>
              <a:t>Website v0.1 — Show &amp;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80"/>
              </a:spcAft>
              <a:defRPr sz="1600" b="0">
                <a:solidFill>
                  <a:srgbClr val="F3E4BC"/>
                </a:solidFill>
                <a:latin typeface="Calibri"/>
              </a:defRPr>
            </a:pPr>
            <a:r>
              <a:t>Preserving Sanātana Dharma through Seva, Śraddhā, and Saṁskāra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9994BF"/>
                </a:solidFill>
                <a:latin typeface="Calibri"/>
              </a:defRPr>
            </a:pPr>
            <a:r>
              <a:t>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1 — WHY AND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Why a Website Now?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600"/>
              </a:spcAft>
              <a:defRPr sz="2000" b="0">
                <a:solidFill>
                  <a:srgbClr val="2A2A2A"/>
                </a:solidFill>
                <a:latin typeface="Calibri"/>
              </a:defRPr>
            </a:pPr>
            <a:r>
              <a:t>The Vṛnda's mission deserves a digital presence that matches its dignity.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The Maharudra Purascharana (May 15–17) is the catalyst — we need a place where devotees can learn about the event, understand the sevas, and contribute.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40"/>
              </a:spcAft>
              <a:defRPr sz="1800" b="1">
                <a:solidFill>
                  <a:srgbClr val="2E2A5D"/>
                </a:solidFill>
                <a:latin typeface="Calibri"/>
              </a:defRPr>
            </a:pPr>
            <a:r>
              <a:t>What the website does:</a:t>
            </a:r>
          </a:p>
          <a:p>
            <a:pPr algn="l">
              <a:spcBef>
                <a:spcPts val="400"/>
              </a:spcBef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    ●  Informs — who we are, what we do, which Gurukulas we support</a:t>
            </a:r>
          </a:p>
          <a:p>
            <a:pPr algn="l">
              <a:spcBef>
                <a:spcPts val="400"/>
              </a:spcBef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    ●  Inspires — the importance of Veda Vidya, the Guru–Shishya Parampara</a:t>
            </a:r>
          </a:p>
          <a:p>
            <a:pPr algn="l">
              <a:spcBef>
                <a:spcPts val="400"/>
              </a:spcBef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    ●  Invites participation — events, volunteering, Gurukula visits</a:t>
            </a:r>
          </a:p>
          <a:p>
            <a:pPr algn="l">
              <a:spcBef>
                <a:spcPts val="400"/>
              </a:spcBef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    ●  Accepts donations — UPI, QR code, bank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1 — WHY AND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Why Not Just Use WordPress?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4572000" cy="3840480"/>
          </a:xfrm>
          <a:prstGeom prst="roundRect">
            <a:avLst/>
          </a:prstGeom>
          <a:solidFill>
            <a:srgbClr val="F9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600"/>
              </a:spcAft>
              <a:defRPr sz="2000" b="1">
                <a:solidFill>
                  <a:srgbClr val="A63232"/>
                </a:solidFill>
                <a:latin typeface="Calibri"/>
              </a:defRPr>
            </a:pPr>
            <a:r>
              <a:t>Typical WordPress Site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✗  Generic templates — looks like every other NGO site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✗  Plugin bloat — dozens of plugins, each a security risk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✗  Needs a database — can be hacked, needs maintenance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✗  Monthly hosting cost (₹3,000–10,000/year)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✗  Slow on mobile — heavy pages, poor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029200" cy="3840480"/>
          </a:xfrm>
          <a:prstGeom prst="roundRect">
            <a:avLst/>
          </a:prstGeom>
          <a:solidFill>
            <a:srgbClr val="EE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600"/>
              </a:spcAft>
              <a:defRPr sz="2000" b="1">
                <a:solidFill>
                  <a:srgbClr val="2E2A5D"/>
                </a:solidFill>
                <a:latin typeface="Calibri"/>
              </a:defRPr>
            </a:pPr>
            <a:r>
              <a:t>Our Custom-Built Site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2A2A2A"/>
                </a:solidFill>
                <a:latin typeface="Calibri"/>
              </a:defRPr>
            </a:pPr>
            <a:r>
              <a:t>✓  Designed for this trust's aesthetic — not a template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2A2A2A"/>
                </a:solidFill>
                <a:latin typeface="Calibri"/>
              </a:defRPr>
            </a:pPr>
            <a:r>
              <a:t>✓  No plugins — clean, secure, nothing to maintain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2A2A2A"/>
                </a:solidFill>
                <a:latin typeface="Calibri"/>
              </a:defRPr>
            </a:pPr>
            <a:r>
              <a:t>✓  No database to hack — static pages, ultra-safe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2A2A2A"/>
                </a:solidFill>
                <a:latin typeface="Calibri"/>
              </a:defRPr>
            </a:pPr>
            <a:r>
              <a:t>✓  Free hosting on Vercel (₹0/year)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2A2A2A"/>
                </a:solidFill>
                <a:latin typeface="Calibri"/>
              </a:defRPr>
            </a:pPr>
            <a:r>
              <a:t>✓  Blazing fast on mobile — loads in under 1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480"/>
              </a:spcAft>
              <a:defRPr sz="1600" b="1">
                <a:solidFill>
                  <a:srgbClr val="5D5799"/>
                </a:solidFill>
                <a:latin typeface="Calibri"/>
              </a:defRPr>
            </a:pPr>
            <a:r>
              <a:t>"We built a precision instrument, not a Swiss Army knife."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1 — WHY AND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Design Philosophy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645920" cy="914400"/>
          </a:xfrm>
          <a:prstGeom prst="roundRect">
            <a:avLst/>
          </a:prstGeom>
          <a:solidFill>
            <a:srgbClr val="F7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20"/>
              </a:spcAft>
              <a:defRPr sz="1400" b="1">
                <a:solidFill>
                  <a:srgbClr val="2A2A2A"/>
                </a:solidFill>
                <a:latin typeface="Calibri"/>
              </a:defRPr>
            </a:pPr>
            <a:r>
              <a:t>Ivory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1645920" cy="91440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240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Charcoal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2011680"/>
            <a:ext cx="1645920" cy="91440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240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Indigo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011680"/>
            <a:ext cx="1645920" cy="914400"/>
          </a:xfrm>
          <a:prstGeom prst="roundRect">
            <a:avLst/>
          </a:prstGeom>
          <a:solidFill>
            <a:srgbClr val="A6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240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Kumkuma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1645920" cy="91440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240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2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2E2A5D"/>
                </a:solidFill>
                <a:latin typeface="Calibri"/>
              </a:defRPr>
            </a:pPr>
            <a:r>
              <a:t>Typography-first: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EB Garamond for headings  ·  Inter for body text  ·  Noto Serif Devanagari for shlokas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40"/>
              </a:spcAft>
              <a:defRPr sz="1800" b="1">
                <a:solidFill>
                  <a:srgbClr val="2E2A5D"/>
                </a:solidFill>
                <a:latin typeface="Calibri"/>
              </a:defRPr>
            </a:pPr>
            <a:r>
              <a:t>Core principles:</a:t>
            </a:r>
          </a:p>
          <a:p>
            <a:pPr algn="l">
              <a:spcBef>
                <a:spcPts val="6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Sanskrit displayed with reverence — Devanagari + transliteration + translation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Mobile-first — 60%+ visitors will be on phones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No generic stock photos, no kitsch-Hindu design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Dignified, rooted, contemporary — like a museum exhibit about a living tradition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localhost:3001/styleguide in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1 — WHY AND 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How Content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All content lives in simple text files. No database, no CMS login. Anyone with a text editor can update the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ourier New"/>
              </a:defRPr>
            </a:pPr>
            <a:r>
              <a:t>gurukulas.ts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108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Gurukula names, locations,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47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ourier New"/>
              </a:defRPr>
            </a:pPr>
            <a:r>
              <a:t>events.ts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47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Events — Maharudra schedule, seva amounts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86783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ourier New"/>
              </a:defRPr>
            </a:pPr>
            <a:r>
              <a:t>trustees.ts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986783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Trustees &amp; Managing Committee bios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256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ourier New"/>
              </a:defRPr>
            </a:pPr>
            <a:r>
              <a:t>blog.ts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4256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Blog articles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646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ourier New"/>
              </a:defRPr>
            </a:pPr>
            <a:r>
              <a:t>gallery.ts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8646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Gallery photos and videos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ourier New"/>
              </a:defRPr>
            </a:pPr>
            <a:r>
              <a:t>faqs.ts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303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Frequently asked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5D5799"/>
                </a:solidFill>
                <a:latin typeface="Calibri"/>
              </a:defRPr>
            </a:pPr>
            <a:r>
              <a:t>Future: we'll migrate to a visual CMS (Sanity) — the site won't change, only the data source.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Homepage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0116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banner image of Gurukula students, tagline shloka, trust logo, audio player for Vedic chanting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786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Veda Vidya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5786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Vishnu Purana shloka + the Veda Vriksha illustration showing all 4 Vedas and their shakhas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455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Why Gurukulas Matter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14553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the Vṛnda's own founding text, with Adi Shankaracharya's injunction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1246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Featured Gurukulas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1246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3 cards (Shruti Parampara, Gowtama, Sacchidananda) linking to detail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793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Maharudra Purascharana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2793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event card with date, description, and direct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Blessed by the Sringeri Jagadgurus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46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anugraha section with the Sringeri Parampara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132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Support the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41324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3 donation purpose cards, each opening a payment modal (live UPI + QR + bank)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 in 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Vedic Gurukulas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List page — card grid of 3 seeded Gurukulas with name, location, ācārya, student count.</a:t>
            </a:r>
          </a:p>
          <a:p>
            <a:pPr algn="l">
              <a:spcBef>
                <a:spcPts val="0"/>
              </a:spcBef>
              <a:spcAft>
                <a:spcPts val="240"/>
              </a:spcAft>
              <a:defRPr sz="8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Detail pages — each Gurukula has its own URL (/gurukulas/shruti-parampara) designed as a drawer-style page: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Hero image with overlay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5 tabs: Overview, Adhyāpakas, Vidyārthīs, Events, Contact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Close button (×) returns to the list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SEO-friendly — each page is linkable and shareable</a:t>
            </a:r>
          </a:p>
          <a:p>
            <a:pPr algn="l">
              <a:spcBef>
                <a:spcPts val="0"/>
              </a:spcBef>
              <a:spcAft>
                <a:spcPts val="240"/>
              </a:spcAft>
              <a:defRPr sz="8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40"/>
              </a:spcAft>
              <a:defRPr sz="1800" b="1">
                <a:solidFill>
                  <a:srgbClr val="2E2A5D"/>
                </a:solidFill>
                <a:latin typeface="Calibri"/>
              </a:defRPr>
            </a:pPr>
            <a:r>
              <a:t>Seeded Gurukulas: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1. Shruti Parampara Gurukula, JP Nagar — 12 students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2. Gowtama Veda Pathashala, Banashankari — 20 students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3. Sacchidananda Advaitashrama, Rajajinagar — 12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localhost:3001/gurukulas in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Maharudra Purascharana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A dedicated page for our flagship event — sourced from the official invite letter.</a:t>
            </a:r>
          </a:p>
          <a:p>
            <a:pPr algn="l">
              <a:spcBef>
                <a:spcPts val="0"/>
              </a:spcBef>
              <a:spcAft>
                <a:spcPts val="240"/>
              </a:spcAft>
              <a:defRPr sz="8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Sri Adi Shankaracharya painting (Sphatika Linga worship) — full, unclipped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Spiritual significance of the Rudrādhyāya with corrected Shiva Purana shlokas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3-day programme schedule (May 15–17)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10 seva opportunities with amounts (₹501 to ₹15,001)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Google Maps embed — Hoysala Trust, Hosakerehalli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"Donate" button opens a payment modal directly (UPI + QR + bank)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    ●  "Volunteer" button links to the contact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localhost:3001/events/maharudra in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Events &amp; Donations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660"/>
              </a:spcAft>
              <a:defRPr sz="2200" b="1">
                <a:solidFill>
                  <a:srgbClr val="2E2A5D"/>
                </a:solidFill>
                <a:latin typeface="Calibri"/>
              </a:defRPr>
            </a:pPr>
            <a:r>
              <a:t>Events (/events)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Introduction to why we organise events, followed by featured event cards.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More events will appear here as they are planned.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660"/>
              </a:spcAft>
              <a:defRPr sz="2200" b="1">
                <a:solidFill>
                  <a:srgbClr val="2E2A5D"/>
                </a:solidFill>
                <a:latin typeface="Calibri"/>
              </a:defRPr>
            </a:pPr>
            <a:r>
              <a:t>Donations (/donations)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"Śraddhayā deyam" illustration at top.</a:t>
            </a:r>
          </a:p>
          <a:p>
            <a:pPr algn="l">
              <a:spcBef>
                <a:spcPts val="6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Three purpose cards: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●  Gurukula Abhivruddhi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●  Go-Samrakshanam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●  Event Seva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Each opens a modal with live payment info:</a:t>
            </a:r>
          </a:p>
          <a:p>
            <a:pPr algn="l">
              <a:spcBef>
                <a:spcPts val="200"/>
              </a:spcBef>
              <a:spcAft>
                <a:spcPts val="480"/>
              </a:spcAft>
              <a:defRPr sz="1600" b="1">
                <a:solidFill>
                  <a:srgbClr val="2E2A5D"/>
                </a:solidFill>
                <a:latin typeface="Calibri"/>
              </a:defRPr>
            </a:pPr>
            <a:r>
              <a:t>UPI ID, scannable QR code, bank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localhost:3001/donations in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About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Our Story — the founding narrative ("We are not a Gurukulam. We are a trust that exists to ensure Gurukulas thrive.")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Vision &amp; Mission — prominent cards on a deep indigo background</a:t>
            </a:r>
          </a:p>
          <a:p>
            <a:pPr algn="l">
              <a:spcBef>
                <a:spcPts val="800"/>
              </a:spcBef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What We Do — 6 objectives shown as icon cards (not a bullet list)</a:t>
            </a:r>
          </a:p>
          <a:p>
            <a:pPr algn="l">
              <a:spcBef>
                <a:spcPts val="800"/>
              </a:spcBef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How We Operate — reaching out to Gurukulas, building a database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spcAft>
                <a:spcPts val="540"/>
              </a:spcAft>
              <a:defRPr sz="1800" b="1">
                <a:solidFill>
                  <a:srgbClr val="2E2A5D"/>
                </a:solidFill>
                <a:latin typeface="Calibri"/>
              </a:defRPr>
            </a:pPr>
            <a:r>
              <a:t>Team Shivasankalpa:</a:t>
            </a:r>
          </a:p>
          <a:p>
            <a:pPr algn="l">
              <a:spcBef>
                <a:spcPts val="4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Managing Committee: Naveen (President), Sheshadri (VP), Shreesha (Secretary), Gourishankara (Treasurer)</a:t>
            </a:r>
          </a:p>
          <a:p>
            <a:pPr algn="l">
              <a:spcBef>
                <a:spcPts val="4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Trustees: Anantanarayana Sharma, Ravishankar, Giri Bhardwaj, Harisha, Bodhayana</a:t>
            </a:r>
          </a:p>
          <a:p>
            <a:pPr algn="l">
              <a:spcBef>
                <a:spcPts val="400"/>
              </a:spcBef>
              <a:spcAft>
                <a:spcPts val="450"/>
              </a:spcAft>
              <a:defRPr sz="1500" b="0">
                <a:solidFill>
                  <a:srgbClr val="5D5799"/>
                </a:solidFill>
                <a:latin typeface="Calibri"/>
              </a:defRPr>
            </a:pPr>
            <a:r>
              <a:t>    Click any card → expanded modal with larger photo and full bio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localhost:3001/about in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Blog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Two seeded posts to demonstrate the layout:</a:t>
            </a:r>
          </a:p>
          <a:p>
            <a:pPr algn="l">
              <a:spcBef>
                <a:spcPts val="0"/>
              </a:spcBef>
              <a:spcAft>
                <a:spcPts val="240"/>
              </a:spcAft>
              <a:defRPr sz="8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09"/>
              </a:spcAft>
              <a:defRPr sz="1700" b="1">
                <a:solidFill>
                  <a:srgbClr val="2E2A5D"/>
                </a:solidFill>
                <a:latin typeface="Calibri"/>
              </a:defRPr>
            </a:pPr>
            <a:r>
              <a:t>  1.  "A Visit to Shruti Parampara Gurukula, JP Nagar"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   A detailed visit report — meeting the ācārya, watching students chant, identifying needs.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09"/>
              </a:spcAft>
              <a:defRPr sz="1700" b="1">
                <a:solidFill>
                  <a:srgbClr val="2E2A5D"/>
                </a:solidFill>
                <a:latin typeface="Calibri"/>
              </a:defRPr>
            </a:pPr>
            <a:r>
              <a:t>  2.  "Why Vedic Gurukulas Matter in the 21st Century"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   A reflective essay on the Gurukula tradition — to be completed by the team.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Each post has: date, author, tags, full-width image, rich text body.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The team can add new posts by editing a simple text file (data/blog.ts).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localhost:3001/blog in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Gallery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31 photos and videos from Gurukula visits, organised with tab filters:</a:t>
            </a:r>
          </a:p>
          <a:p>
            <a:pPr algn="l">
              <a:spcBef>
                <a:spcPts val="0"/>
              </a:spcBef>
              <a:spcAft>
                <a:spcPts val="240"/>
              </a:spcAft>
              <a:defRPr sz="8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540"/>
              </a:spcAft>
              <a:defRPr sz="1800" b="1">
                <a:solidFill>
                  <a:srgbClr val="2E2A5D"/>
                </a:solidFill>
                <a:latin typeface="Calibri"/>
              </a:defRPr>
            </a:pPr>
            <a:r>
              <a:t>    All  ·  Gurukulas  ·  Events  ·  Misc</a:t>
            </a:r>
          </a:p>
          <a:p>
            <a:pPr algn="l">
              <a:spcBef>
                <a:spcPts val="0"/>
              </a:spcBef>
              <a:spcAft>
                <a:spcPts val="240"/>
              </a:spcAft>
              <a:defRPr sz="8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509"/>
              </a:spcAft>
              <a:defRPr sz="1700" b="0">
                <a:solidFill>
                  <a:srgbClr val="616161"/>
                </a:solidFill>
                <a:latin typeface="Calibri"/>
              </a:defRPr>
            </a:pPr>
            <a:r>
              <a:t>Sources:</a:t>
            </a:r>
          </a:p>
          <a:p>
            <a:pPr algn="l">
              <a:spcBef>
                <a:spcPts val="4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●  Shruti Parampara (1 photo, 2 videos)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●  Varthur Gurukula (12 photos, 4 videos)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●  Sri Ramana Maharshi Brahmavidyashrama (4 photos, 1 video)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●  Chidambarashrama (4 photos)</a:t>
            </a:r>
          </a:p>
          <a:p>
            <a:pPr algn="l">
              <a:spcBef>
                <a:spcPts val="2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    ●  Events (1 photo, 1 video)</a:t>
            </a:r>
          </a:p>
          <a:p>
            <a:pPr algn="l">
              <a:spcBef>
                <a:spcPts val="0"/>
              </a:spcBef>
              <a:spcAft>
                <a:spcPts val="240"/>
              </a:spcAft>
              <a:defRPr sz="8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480"/>
              </a:spcAft>
              <a:defRPr sz="1600" b="0">
                <a:solidFill>
                  <a:srgbClr val="5D5799"/>
                </a:solidFill>
                <a:latin typeface="Calibri"/>
              </a:defRPr>
            </a:pPr>
            <a:r>
              <a:t>Videos play inline — click the play button to watch.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localhost:3001/gallery in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Contact &amp; FAQs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660"/>
              </a:spcAft>
              <a:defRPr sz="2200" b="1">
                <a:solidFill>
                  <a:srgbClr val="2E2A5D"/>
                </a:solidFill>
                <a:latin typeface="Calibri"/>
              </a:defRPr>
            </a:pPr>
            <a:r>
              <a:t>Contact Form (/contact)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Fields: Name, Email, Subject, Message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Client-side validation (required fields, email format)</a:t>
            </a: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Shows a success confirmation on submit</a:t>
            </a:r>
          </a:p>
          <a:p>
            <a:pPr algn="l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5D5799"/>
                </a:solidFill>
                <a:latin typeface="Calibri"/>
              </a:defRPr>
            </a:pPr>
            <a:r>
              <a:t>Email delivery will be connected at deployment (v0.15)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1031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Aft>
                <a:spcPts val="660"/>
              </a:spcAft>
              <a:defRPr sz="2200" b="1">
                <a:solidFill>
                  <a:srgbClr val="2E2A5D"/>
                </a:solidFill>
                <a:latin typeface="Calibri"/>
              </a:defRPr>
            </a:pPr>
            <a:r>
              <a:t>FAQs (/faqs)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8 questions with expandable accordion:</a:t>
            </a:r>
          </a:p>
          <a:p>
            <a:pPr algn="l">
              <a:spcBef>
                <a:spcPts val="400"/>
              </a:spcBef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    ●  What is Sri Shivasankalpa?</a:t>
            </a:r>
          </a:p>
          <a:p>
            <a:pPr algn="l">
              <a:spcBef>
                <a:spcPts val="200"/>
              </a:spcBef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    ●  What does "Shivasankalpa" mean?</a:t>
            </a:r>
          </a:p>
          <a:p>
            <a:pPr algn="l">
              <a:spcBef>
                <a:spcPts val="200"/>
              </a:spcBef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    ●  How are donations used?</a:t>
            </a:r>
          </a:p>
          <a:p>
            <a:pPr algn="l">
              <a:spcBef>
                <a:spcPts val="200"/>
              </a:spcBef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    ●  How can I participate?</a:t>
            </a:r>
          </a:p>
          <a:p>
            <a:pPr algn="l">
              <a:spcBef>
                <a:spcPts val="200"/>
              </a:spcBef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    ●  Are donations tax-exempt?</a:t>
            </a:r>
          </a:p>
          <a:p>
            <a:pPr algn="l">
              <a:spcBef>
                <a:spcPts val="200"/>
              </a:spcBef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    ●  Which Gurukulas does the trust support?</a:t>
            </a:r>
          </a:p>
          <a:p>
            <a:pPr algn="l">
              <a:spcBef>
                <a:spcPts val="200"/>
              </a:spcBef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    ●  ...and more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5760720"/>
            <a:ext cx="3840480" cy="548640"/>
          </a:xfrm>
          <a:prstGeom prst="roundRect">
            <a:avLst/>
          </a:prstGeom>
          <a:solidFill>
            <a:srgbClr val="2E2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DEMO  →  open localhost:3001/contact in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2 — PAGE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Even the 404 Page Has Character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When someone visits a page that doesn't exist, they see:</a:t>
            </a:r>
          </a:p>
          <a:p>
            <a:pPr algn="l">
              <a:spcBef>
                <a:spcPts val="0"/>
              </a:spcBef>
              <a:spcAft>
                <a:spcPts val="359"/>
              </a:spcAft>
              <a:defRPr sz="1200" b="0">
                <a:solidFill>
                  <a:srgbClr val="2A2A2A"/>
                </a:solidFill>
                <a:latin typeface="Calibri"/>
              </a:defRPr>
            </a:pPr>
          </a:p>
          <a:p>
            <a:pPr algn="ctr">
              <a:spcBef>
                <a:spcPts val="1000"/>
              </a:spcBef>
              <a:spcAft>
                <a:spcPts val="719"/>
              </a:spcAft>
              <a:defRPr sz="2400" b="1">
                <a:solidFill>
                  <a:srgbClr val="2E2A5D"/>
                </a:solidFill>
                <a:latin typeface="Calibri"/>
              </a:defRPr>
            </a:pPr>
            <a:r>
              <a:t>"404 — Page Not Found"</a:t>
            </a:r>
          </a:p>
          <a:p>
            <a:pPr algn="l">
              <a:spcBef>
                <a:spcPts val="0"/>
              </a:spcBef>
              <a:spcAft>
                <a:spcPts val="179"/>
              </a:spcAft>
              <a:defRPr sz="600" b="0">
                <a:solidFill>
                  <a:srgbClr val="2A2A2A"/>
                </a:solidFill>
                <a:latin typeface="Calibri"/>
              </a:defRPr>
            </a:pPr>
          </a:p>
          <a:p>
            <a:pPr algn="ctr">
              <a:spcBef>
                <a:spcPts val="1000"/>
              </a:spcBef>
              <a:spcAft>
                <a:spcPts val="600"/>
              </a:spcAft>
              <a:defRPr sz="2000" b="0">
                <a:solidFill>
                  <a:srgbClr val="5D5799"/>
                </a:solidFill>
                <a:latin typeface="Arial Unicode MS"/>
              </a:defRPr>
            </a:pPr>
            <a:r>
              <a:t>तमेव शरणं गच्छ सर्वभावेन भारत</a:t>
            </a:r>
          </a:p>
          <a:p>
            <a:pPr algn="ctr">
              <a:spcBef>
                <a:spcPts val="600"/>
              </a:spcBef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"Seek refuge in Him alone with your whole being." — Bhagavad Gītā 18.62</a:t>
            </a:r>
          </a:p>
          <a:p>
            <a:pPr algn="l">
              <a:spcBef>
                <a:spcPts val="0"/>
              </a:spcBef>
              <a:spcAft>
                <a:spcPts val="240"/>
              </a:spcAft>
              <a:defRPr sz="800" b="0">
                <a:solidFill>
                  <a:srgbClr val="2A2A2A"/>
                </a:solidFill>
                <a:latin typeface="Calibri"/>
              </a:defRPr>
            </a:pPr>
          </a:p>
          <a:p>
            <a:pPr algn="ctr">
              <a:spcBef>
                <a:spcPts val="600"/>
              </a:spcBef>
              <a:spcAft>
                <a:spcPts val="480"/>
              </a:spcAft>
              <a:defRPr sz="1600" b="0">
                <a:solidFill>
                  <a:srgbClr val="616161"/>
                </a:solidFill>
                <a:latin typeface="Calibri"/>
              </a:defRPr>
            </a:pPr>
            <a:r>
              <a:t>...with a button to return home.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3 —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What Needs Your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~45 placeholders in the site need real content before we go live. Organised by category: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Gurukula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Established year, history, daily schedule, phone, email — for all 3 Gurukulas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3649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Trustee &amp; committee bios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3649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Final bio paragraphs for all 9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039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Team photos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0390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Formal photos for members who don't have one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428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Donation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4281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Current details are interim — need trust's own bank/UPI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81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Blog 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6817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Review the visit post; complete the second article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20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Trust artefacts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120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Registration certificate, audit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595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Trust registration 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5595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For the footer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998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2E2A5D"/>
                </a:solidFill>
                <a:latin typeface="Calibri"/>
              </a:defRPr>
            </a:pPr>
            <a:r>
              <a:t>80G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99846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Update the FAQ once certification is obtained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3 —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Media Review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0">
                <a:solidFill>
                  <a:srgbClr val="616161"/>
                </a:solidFill>
                <a:latin typeface="Calibri"/>
              </a:defRPr>
            </a:pPr>
            <a:r>
              <a:t>We need better photos and videos in several areas. Please review and provide upgrades: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A63232"/>
                </a:solidFill>
                <a:latin typeface="Calibri"/>
              </a:defRPr>
            </a:pPr>
            <a:r>
              <a:t>Gurukula hero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Dedicated photo for each Gurukula's detail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A63232"/>
                </a:solidFill>
                <a:latin typeface="Calibri"/>
              </a:defRPr>
            </a:pPr>
            <a:r>
              <a:t>Trustee &amp; committee portraits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Formal photos, good lighting, consistent 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A63232"/>
                </a:solidFill>
                <a:latin typeface="Calibri"/>
              </a:defRPr>
            </a:pPr>
            <a:r>
              <a:t>Gallery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Replace blurry/dark photos; add photos from recent visits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A63232"/>
                </a:solidFill>
                <a:latin typeface="Calibri"/>
              </a:defRPr>
            </a:pPr>
            <a:r>
              <a:t>Blog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34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Relevant photos for both seeded blog posts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A63232"/>
                </a:solidFill>
                <a:latin typeface="Calibri"/>
              </a:defRPr>
            </a:pPr>
            <a:r>
              <a:t>Homepage banner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937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Consider an original photo from a Vṛnda event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440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1">
                <a:solidFill>
                  <a:srgbClr val="A63232"/>
                </a:solidFill>
                <a:latin typeface="Calibri"/>
              </a:defRPr>
            </a:pPr>
            <a:r>
              <a:t>Veda Vruksha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440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20"/>
              </a:spcAft>
              <a:defRPr sz="1400" b="0">
                <a:solidFill>
                  <a:srgbClr val="616161"/>
                </a:solidFill>
                <a:latin typeface="Calibri"/>
              </a:defRPr>
            </a:pPr>
            <a:r>
              <a:t>Verify accuracy of shakha names in the illustration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330"/>
              </a:spcAft>
              <a:defRPr sz="1100" b="1">
                <a:solidFill>
                  <a:srgbClr val="B8860B"/>
                </a:solidFill>
                <a:latin typeface="Calibri"/>
              </a:defRPr>
            </a:pPr>
            <a:r>
              <a:t>ACT 3 —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2E2A5D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182880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058400" cy="777240"/>
          </a:xfrm>
          <a:prstGeom prst="roundRect">
            <a:avLst/>
          </a:prstGeom>
          <a:solidFill>
            <a:srgbClr val="EE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59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2E2A5D"/>
                </a:solidFill>
                <a:latin typeface="Calibri"/>
              </a:defRPr>
            </a:pPr>
            <a:r>
              <a:t>v0.1  (today)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35915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Prototype on localhost — what you're seeing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91840"/>
            <a:ext cx="10058400" cy="777240"/>
          </a:xfrm>
          <a:prstGeom prst="roundRect">
            <a:avLst/>
          </a:prstGeom>
          <a:solidFill>
            <a:srgbClr val="FB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649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5D5799"/>
                </a:solidFill>
                <a:latin typeface="Calibri"/>
              </a:defRPr>
            </a:pPr>
            <a:r>
              <a:t>v0.15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36499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Deploy to srishivasankalpa.org (Vercel + Hostinger DNS), connect contact form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97680"/>
            <a:ext cx="10058400" cy="777240"/>
          </a:xfrm>
          <a:prstGeom prst="roundRect">
            <a:avLst/>
          </a:prstGeom>
          <a:solidFill>
            <a:srgbClr val="FB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37083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2A2A2A"/>
                </a:solidFill>
                <a:latin typeface="Calibri"/>
              </a:defRPr>
            </a:pPr>
            <a:r>
              <a:t>v0.2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37083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Sanity CMS (visual editor for non-technical updates), Razorpay payment gateway, automated 80G 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03520"/>
            <a:ext cx="10058400" cy="777240"/>
          </a:xfrm>
          <a:prstGeom prst="roundRect">
            <a:avLst/>
          </a:prstGeom>
          <a:solidFill>
            <a:srgbClr val="FB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3766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616161"/>
                </a:solidFill>
                <a:latin typeface="Calibri"/>
              </a:defRPr>
            </a:pPr>
            <a:r>
              <a:t>v1.0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376672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50"/>
              </a:spcAft>
              <a:defRPr sz="1500" b="0">
                <a:solidFill>
                  <a:srgbClr val="616161"/>
                </a:solidFill>
                <a:latin typeface="Calibri"/>
              </a:defRPr>
            </a:pPr>
            <a:r>
              <a:t>Multi-language support, calendar-based seva booking, donor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2A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108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We Need From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F3E4BC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18288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509"/>
              </a:spcAft>
              <a:defRPr sz="1700" b="0">
                <a:solidFill>
                  <a:srgbClr val="D4D2E8"/>
                </a:solidFill>
                <a:latin typeface="Calibri"/>
              </a:defRPr>
            </a:pPr>
            <a:r>
              <a:t>Review and provide your final bios (2–3 sentences each)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F3E4BC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423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509"/>
              </a:spcAft>
              <a:defRPr sz="1700" b="0">
                <a:solidFill>
                  <a:srgbClr val="D4D2E8"/>
                </a:solidFill>
                <a:latin typeface="Calibri"/>
              </a:defRPr>
            </a:pPr>
            <a:r>
              <a:t>Send a formal photo for the Team page (good lighting, head-and-shoulders)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F3E4BC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0175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509"/>
              </a:spcAft>
              <a:defRPr sz="1700" b="0">
                <a:solidFill>
                  <a:srgbClr val="D4D2E8"/>
                </a:solidFill>
                <a:latin typeface="Calibri"/>
              </a:defRPr>
            </a:pPr>
            <a:r>
              <a:t>Review the 3 Gurukula entries — fill in real details (history, schedule, contact)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118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F3E4BC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611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509"/>
              </a:spcAft>
              <a:defRPr sz="1700" b="0">
                <a:solidFill>
                  <a:srgbClr val="D4D2E8"/>
                </a:solidFill>
                <a:latin typeface="Calibri"/>
              </a:defRPr>
            </a:pPr>
            <a:r>
              <a:t>Read and approve (or revise) the two blog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206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F3E4BC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206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509"/>
              </a:spcAft>
              <a:defRPr sz="1700" b="0">
                <a:solidFill>
                  <a:srgbClr val="D4D2E8"/>
                </a:solidFill>
                <a:latin typeface="Calibri"/>
              </a:defRPr>
            </a:pPr>
            <a:r>
              <a:t>Provide the trust registration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00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F3E4BC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800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509"/>
              </a:spcAft>
              <a:defRPr sz="1700" b="0">
                <a:solidFill>
                  <a:srgbClr val="D4D2E8"/>
                </a:solidFill>
                <a:latin typeface="Calibri"/>
              </a:defRPr>
            </a:pPr>
            <a:r>
              <a:t>Set up the trust's own bank account + UPI — current details are interim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94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340"/>
              </a:lnSpc>
              <a:spcAft>
                <a:spcPts val="540"/>
              </a:spcAft>
              <a:defRPr sz="1800" b="1">
                <a:solidFill>
                  <a:srgbClr val="F3E4BC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3949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10"/>
              </a:lnSpc>
              <a:spcAft>
                <a:spcPts val="509"/>
              </a:spcAft>
              <a:defRPr sz="1700" b="0">
                <a:solidFill>
                  <a:srgbClr val="D4D2E8"/>
                </a:solidFill>
                <a:latin typeface="Calibri"/>
              </a:defRPr>
            </a:pPr>
            <a:r>
              <a:t>Share feedback on the site's design, tone, and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660"/>
              </a:spcAft>
              <a:defRPr sz="2200" b="0">
                <a:solidFill>
                  <a:srgbClr val="F3E4BC"/>
                </a:solidFill>
                <a:latin typeface="Arial Unicode MS"/>
              </a:defRPr>
            </a:pPr>
            <a:r>
              <a:t>॥ शिवसंकल्पमस्तु 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300"/>
              </a:spcAft>
              <a:defRPr sz="1000" b="0">
                <a:solidFill>
                  <a:srgbClr val="616161"/>
                </a:solidFill>
                <a:latin typeface="Calibri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